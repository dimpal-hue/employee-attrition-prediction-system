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3F8CF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121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F8C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6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F8C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9F5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F8CF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Logistic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SVM</c:v>
                  </c:pt>
                  <c:pt idx="4">
                    <c:v>KNN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87.41</c:v>
                </c:pt>
                <c:pt idx="1">
                  <c:v>76.19</c:v>
                </c:pt>
                <c:pt idx="2">
                  <c:v>87.41</c:v>
                </c:pt>
                <c:pt idx="3">
                  <c:v>88.44</c:v>
                </c:pt>
                <c:pt idx="4">
                  <c:v>87.41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121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1212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E6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jp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273877"/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27387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PREDICTION SYSTEM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Attrition Prediction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employee turnover using supervised Machine Learning algorithms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160520"/>
            <a:ext cx="2926080" cy="0"/>
          </a:xfrm>
          <a:prstGeom prst="line">
            <a:avLst/>
          </a:prstGeom>
          <a:noFill/>
          <a:ln w="25400">
            <a:solidFill>
              <a:srgbClr val="3F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Dimple Sharma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5166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Vaibhav Magar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91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Assignment  |  Machine Learning Prediction System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492240" cy="4206240"/>
          </a:xfrm>
          <a:prstGeom prst="rect">
            <a:avLst>
              <a:gd name="adj" fmla="val 2609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2880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— when valued employees leave an organization — drives up recruitment costs, disrupts productivity, and weakens team continuity.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301752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whether an employee is likely to leave the company (Attrition = Yes/No) using HR-related features such as age, job role, income, overtime, and job satisfaction.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443484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framed as a binary classification problem — Attrition = 1 (left) or 0 (stayed).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60920" y="1554480"/>
            <a:ext cx="4251960" cy="4206240"/>
          </a:xfrm>
          <a:prstGeom prst="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2286000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635240" y="333756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in the dataset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the company (Attrition)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09560" y="4297680"/>
            <a:ext cx="3154680" cy="0"/>
          </a:xfrm>
          <a:prstGeom prst="line">
            <a:avLst/>
          </a:prstGeom>
          <a:noFill/>
          <a:ln w="12700">
            <a:solidFill>
              <a:srgbClr val="4454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35240" y="452628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stayed with the organization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— Machine Learning Prediction System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49240" cy="1298448"/>
          </a:xfrm>
          <a:prstGeom prst="rect">
            <a:avLst>
              <a:gd name="adj" fmla="val 7042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847088"/>
            <a:ext cx="502920" cy="502920"/>
          </a:xfrm>
          <a:prstGeom prst="ellipse">
            <a:avLst/>
          </a:prstGeom>
          <a:solidFill>
            <a:srgbClr val="3F8CFF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47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1417320" y="170078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Understand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208483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 real-world HR dataset and its attrition target variable.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49240" cy="1298448"/>
          </a:xfrm>
          <a:prstGeom prst="rect">
            <a:avLst>
              <a:gd name="adj" fmla="val 7042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419088" y="1847088"/>
            <a:ext cx="502920" cy="502920"/>
          </a:xfrm>
          <a:prstGeom prst="ellipse">
            <a:avLst/>
          </a:prstGeom>
          <a:solidFill>
            <a:srgbClr val="3F8CFF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18470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7086600" y="170078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the Dataset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duplicates, encoding, and feature scaling.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5349240" cy="1298448"/>
          </a:xfrm>
          <a:prstGeom prst="rect">
            <a:avLst>
              <a:gd name="adj" fmla="val 7042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374136"/>
            <a:ext cx="502920" cy="502920"/>
          </a:xfrm>
          <a:prstGeom prst="ellipse">
            <a:avLst/>
          </a:prstGeom>
          <a:solidFill>
            <a:srgbClr val="3F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3374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1417320" y="32278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Data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36118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EDA to uncover patterns and relationships behind attrition.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3081528"/>
            <a:ext cx="5349240" cy="1298448"/>
          </a:xfrm>
          <a:prstGeom prst="rect">
            <a:avLst>
              <a:gd name="adj" fmla="val 7042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19088" y="3374136"/>
            <a:ext cx="502920" cy="502920"/>
          </a:xfrm>
          <a:prstGeom prst="ellipse">
            <a:avLst/>
          </a:prstGeom>
          <a:solidFill>
            <a:srgbClr val="3F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19088" y="33741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7086600" y="322783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Multiple Models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86600" y="361188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five classification algorithms.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608576"/>
            <a:ext cx="5349240" cy="1298448"/>
          </a:xfrm>
          <a:prstGeom prst="rect">
            <a:avLst>
              <a:gd name="adj" fmla="val 7042"/>
            </a:avLst>
          </a:prstGeom>
          <a:solidFill>
            <a:srgbClr val="F4F6FB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" y="4901184"/>
            <a:ext cx="502920" cy="502920"/>
          </a:xfrm>
          <a:prstGeom prst="ellipse">
            <a:avLst/>
          </a:prstGeom>
          <a:solidFill>
            <a:srgbClr val="3F8CFF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4901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1417320" y="4754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Performance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513892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Accuracy, Confusion Matrix, Precision, Recall, and F1 Score.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4608576"/>
            <a:ext cx="5349240" cy="1298448"/>
          </a:xfrm>
          <a:prstGeom prst="rect">
            <a:avLst>
              <a:gd name="adj" fmla="val 7042"/>
            </a:avLst>
          </a:prstGeom>
          <a:solidFill>
            <a:srgbClr val="F4F6FB"/>
          </a:solidFill>
          <a:ln/>
        </p:spPr>
      </p:sp>
      <p:sp>
        <p:nvSpPr>
          <p:cNvPr id="29" name="Shape 27"/>
          <p:cNvSpPr/>
          <p:nvPr/>
        </p:nvSpPr>
        <p:spPr>
          <a:xfrm>
            <a:off x="6419088" y="4901184"/>
            <a:ext cx="502920" cy="502920"/>
          </a:xfrm>
          <a:prstGeom prst="ellipse">
            <a:avLst/>
          </a:prstGeom>
          <a:solidFill>
            <a:srgbClr val="3F8C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19088" y="49011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10" dirty="0"/>
          </a:p>
        </p:txBody>
      </p:sp>
      <p:sp>
        <p:nvSpPr>
          <p:cNvPr id="31" name="Text 29"/>
          <p:cNvSpPr/>
          <p:nvPr/>
        </p:nvSpPr>
        <p:spPr>
          <a:xfrm>
            <a:off x="7086600" y="4754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Insights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086600" y="513892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best model and actionable HR insights.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— Machine Learning Prediction System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Employee Attrition Dataset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371600"/>
          </a:xfrm>
          <a:prstGeom prst="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371600"/>
          </a:xfrm>
          <a:prstGeom prst="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7647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371600"/>
          </a:xfrm>
          <a:prstGeom prst="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7647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 + 9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5508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+ Categorical Features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371600"/>
          </a:xfrm>
          <a:prstGeom prst="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7647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89720" y="246888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Features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Numerical: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MonthlyIncome, TotalWorkingYears, DistanceFromHome, YearsAtCompany
</a:t>
            </a:r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BusinessTravel, Department, Gender, JobRole, MaritalStatus, OverTime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892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— whether the employee left the company (Yes / No)</a:t>
            </a:r>
            <a:endParaRPr lang="en-US" sz="1250" dirty="0"/>
          </a:p>
        </p:txBody>
      </p:sp>
      <p:pic>
        <p:nvPicPr>
          <p:cNvPr id="20" name="Image 0" descr="/home/claude/work/assets/df_h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600200"/>
            <a:ext cx="5349240" cy="262432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355080" y="1600200"/>
            <a:ext cx="5349240" cy="2624328"/>
          </a:xfrm>
          <a:prstGeom prst="rect">
            <a:avLst/>
          </a:prstGeom>
          <a:ln w="12700">
            <a:solidFill>
              <a:srgbClr val="D9DEE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55080" y="427939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Dataset preview (df.head())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— Machine Learning Prediction System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109960" cy="1051560"/>
          </a:xfrm>
          <a:prstGeom prst="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1874520"/>
            <a:ext cx="502920" cy="502920"/>
          </a:xfrm>
          <a:prstGeom prst="ellipse">
            <a:avLst/>
          </a:prstGeom>
          <a:solidFill>
            <a:srgbClr val="2C9F5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1417320" y="1728216"/>
            <a:ext cx="3108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663440" y="1691640"/>
            <a:ext cx="6812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with df.isnull().sum() — none found; no imputation required.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109960" cy="1051560"/>
          </a:xfrm>
          <a:prstGeom prst="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3063240"/>
            <a:ext cx="502920" cy="502920"/>
          </a:xfrm>
          <a:prstGeom prst="ellipse">
            <a:avLst/>
          </a:prstGeom>
          <a:solidFill>
            <a:srgbClr val="2C9F5B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0" dirty="0"/>
          </a:p>
        </p:txBody>
      </p:sp>
      <p:sp>
        <p:nvSpPr>
          <p:cNvPr id="11" name="Text 9"/>
          <p:cNvSpPr/>
          <p:nvPr/>
        </p:nvSpPr>
        <p:spPr>
          <a:xfrm>
            <a:off x="1417320" y="2916936"/>
            <a:ext cx="3108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663440" y="2880360"/>
            <a:ext cx="6812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with df.duplicated().sum() — no duplicates found.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109960" cy="1051560"/>
          </a:xfrm>
          <a:prstGeom prst="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4251960"/>
            <a:ext cx="502920" cy="502920"/>
          </a:xfrm>
          <a:prstGeom prst="ellipse">
            <a:avLst/>
          </a:prstGeom>
          <a:solidFill>
            <a:srgbClr val="3F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0" dirty="0"/>
          </a:p>
        </p:txBody>
      </p:sp>
      <p:sp>
        <p:nvSpPr>
          <p:cNvPr id="16" name="Text 14"/>
          <p:cNvSpPr/>
          <p:nvPr/>
        </p:nvSpPr>
        <p:spPr>
          <a:xfrm>
            <a:off x="1417320" y="4105656"/>
            <a:ext cx="3108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663440" y="4069080"/>
            <a:ext cx="6812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converted text columns (BusinessTravel, Department, Gender, JobRole, etc.) into numeric form.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166360"/>
            <a:ext cx="11109960" cy="1051560"/>
          </a:xfrm>
          <a:prstGeom prst="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749808" y="5440680"/>
            <a:ext cx="502920" cy="502920"/>
          </a:xfrm>
          <a:prstGeom prst="ellipse">
            <a:avLst/>
          </a:prstGeom>
          <a:solidFill>
            <a:srgbClr val="3F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5440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1417320" y="5294376"/>
            <a:ext cx="3108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663440" y="5257800"/>
            <a:ext cx="6812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standardized numerical features to mean ≈ 0, std ≈ 1 for fair model training.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— Machine Learning Prediction System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classification algorithms trained on an 80/20 train-test split (random_state = 42)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48840" cy="3291840"/>
          </a:xfrm>
          <a:prstGeom prst="rect">
            <a:avLst>
              <a:gd name="adj" fmla="val 425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05840" y="3017520"/>
            <a:ext cx="1234440" cy="0"/>
          </a:xfrm>
          <a:prstGeom prst="line">
            <a:avLst/>
          </a:prstGeom>
          <a:noFill/>
          <a:ln w="12700">
            <a:solidFill>
              <a:srgbClr val="6E7AB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2461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4114800"/>
            <a:ext cx="1819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classifier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62072" y="1874520"/>
            <a:ext cx="2148840" cy="3291840"/>
          </a:xfrm>
          <a:prstGeom prst="rect">
            <a:avLst>
              <a:gd name="adj" fmla="val 4255"/>
            </a:avLst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2862072" y="21945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319272" y="3017520"/>
            <a:ext cx="1234440" cy="0"/>
          </a:xfrm>
          <a:prstGeom prst="line">
            <a:avLst/>
          </a:prstGeom>
          <a:noFill/>
          <a:ln w="12700">
            <a:solidFill>
              <a:srgbClr val="6E7A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9232" y="32461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026664" y="4114800"/>
            <a:ext cx="1819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Rule-based, interpretable tree model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175504" y="1874520"/>
            <a:ext cx="2148840" cy="3291840"/>
          </a:xfrm>
          <a:prstGeom prst="rect">
            <a:avLst>
              <a:gd name="adj" fmla="val 4255"/>
            </a:avLst>
          </a:prstGeom>
          <a:solidFill>
            <a:srgbClr val="3F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5175504" y="21945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632704" y="3017520"/>
            <a:ext cx="1234440" cy="0"/>
          </a:xfrm>
          <a:prstGeom prst="line">
            <a:avLst/>
          </a:prstGeom>
          <a:noFill/>
          <a:ln w="12700">
            <a:solidFill>
              <a:srgbClr val="6E7A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12664" y="32461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40096" y="4114800"/>
            <a:ext cx="1819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 to reduce overfitting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88936" y="1874520"/>
            <a:ext cx="2148840" cy="3291840"/>
          </a:xfrm>
          <a:prstGeom prst="rect">
            <a:avLst>
              <a:gd name="adj" fmla="val 4255"/>
            </a:avLst>
          </a:prstGeom>
          <a:solidFill>
            <a:srgbClr val="3163C9"/>
          </a:solidFill>
          <a:ln/>
        </p:spPr>
      </p:sp>
      <p:sp>
        <p:nvSpPr>
          <p:cNvPr id="20" name="Text 18"/>
          <p:cNvSpPr/>
          <p:nvPr/>
        </p:nvSpPr>
        <p:spPr>
          <a:xfrm>
            <a:off x="7488936" y="21945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7946136" y="3017520"/>
            <a:ext cx="1234440" cy="0"/>
          </a:xfrm>
          <a:prstGeom prst="line">
            <a:avLst/>
          </a:prstGeom>
          <a:noFill/>
          <a:ln w="12700">
            <a:solidFill>
              <a:srgbClr val="6E7A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26096" y="32461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653528" y="4114800"/>
            <a:ext cx="1819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Margin-based classifier on scaled features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02368" y="1874520"/>
            <a:ext cx="2148840" cy="3291840"/>
          </a:xfrm>
          <a:prstGeom prst="rect">
            <a:avLst>
              <a:gd name="adj" fmla="val 4255"/>
            </a:avLst>
          </a:prstGeom>
          <a:solidFill>
            <a:srgbClr val="5B6B8C"/>
          </a:solidFill>
          <a:ln/>
        </p:spPr>
      </p:sp>
      <p:sp>
        <p:nvSpPr>
          <p:cNvPr id="25" name="Text 23"/>
          <p:cNvSpPr/>
          <p:nvPr/>
        </p:nvSpPr>
        <p:spPr>
          <a:xfrm>
            <a:off x="9802368" y="219456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10259568" y="3017520"/>
            <a:ext cx="1234440" cy="0"/>
          </a:xfrm>
          <a:prstGeom prst="line">
            <a:avLst/>
          </a:prstGeom>
          <a:noFill/>
          <a:ln w="12700">
            <a:solidFill>
              <a:srgbClr val="6E7A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39528" y="324612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966960" y="4114800"/>
            <a:ext cx="1819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Distance-based instance learning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— Machine Learning Prediction System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 across all five models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8580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00200"/>
            <a:ext cx="3977640" cy="4206240"/>
          </a:xfrm>
          <a:prstGeom prst="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874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214884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863840" y="28803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9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88.44%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863840" y="342900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— highest among all five models tested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863840" y="4206240"/>
            <a:ext cx="3291840" cy="0"/>
          </a:xfrm>
          <a:prstGeom prst="line">
            <a:avLst/>
          </a:prstGeom>
          <a:noFill/>
          <a:ln w="12700">
            <a:solidFill>
              <a:srgbClr val="4454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0" y="438912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LR, RF &amp; KNN also performed strongly, all above 87% accuracy.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863840" y="50749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trailed the group at 76.19%.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— Machine Learning Prediction System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Metrics — Random Forest</a:t>
            </a:r>
            <a:endParaRPr lang="en-US" sz="1400" dirty="0"/>
          </a:p>
        </p:txBody>
      </p:sp>
      <p:pic>
        <p:nvPicPr>
          <p:cNvPr id="4" name="Image 0" descr="/home/claude/work/asset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02920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Confusion matrix (Random Forest)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035040" y="1600200"/>
            <a:ext cx="5623560" cy="1051560"/>
          </a:xfrm>
          <a:prstGeom prst="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0" y="1709928"/>
            <a:ext cx="14630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18120" y="1709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18120" y="207568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most of the time when it predicts “leaves”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35040" y="2788920"/>
            <a:ext cx="5623560" cy="1051560"/>
          </a:xfrm>
          <a:prstGeom prst="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2898648"/>
            <a:ext cx="14630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818120" y="28986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18120" y="326440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many employees who actually leave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3977640"/>
            <a:ext cx="5623560" cy="1051560"/>
          </a:xfrm>
          <a:prstGeom prst="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4087368"/>
            <a:ext cx="146304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818120" y="40873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818120" y="44531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reflects the recall shortfall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35040" y="4892040"/>
            <a:ext cx="5623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(16.1% attrition) means high accuracy alone doesn't guarantee the model catches employees at risk of leaving.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— Machine Learning Prediction System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Demonstration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in action</a:t>
            </a:r>
            <a:endParaRPr lang="en-US" sz="1400" dirty="0"/>
          </a:p>
        </p:txBody>
      </p:sp>
      <p:pic>
        <p:nvPicPr>
          <p:cNvPr id="4" name="Image 0" descr="/home/claude/work/assets/correlation_heat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577840" cy="2953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9028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Feature correlation heatmap</a:t>
            </a:r>
            <a:endParaRPr lang="en-US" sz="1000" dirty="0"/>
          </a:p>
        </p:txBody>
      </p:sp>
      <p:pic>
        <p:nvPicPr>
          <p:cNvPr id="6" name="Image 1" descr="/home/claude/work/assets/target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2606040" cy="1874520"/>
          </a:xfrm>
          <a:prstGeom prst="rect">
            <a:avLst/>
          </a:prstGeom>
        </p:spPr>
      </p:pic>
      <p:pic>
        <p:nvPicPr>
          <p:cNvPr id="7" name="Image 2" descr="/home/claude/work/assets/boxplot_income_attrition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600200"/>
            <a:ext cx="2606040" cy="12344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55080" y="3520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Attrition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950" dirty="0"/>
          </a:p>
        </p:txBody>
      </p:sp>
      <p:pic>
        <p:nvPicPr>
          <p:cNvPr id="9" name="Image 3" descr="/home/claude/work/assets/age_distribu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2926080"/>
            <a:ext cx="2606040" cy="18745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098280" y="28803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Income vs attrition</a:t>
            </a:r>
            <a:endParaRPr lang="en-US" sz="950" dirty="0"/>
          </a:p>
        </p:txBody>
      </p:sp>
      <p:sp>
        <p:nvSpPr>
          <p:cNvPr id="11" name="Text 5"/>
          <p:cNvSpPr/>
          <p:nvPr/>
        </p:nvSpPr>
        <p:spPr>
          <a:xfrm>
            <a:off x="9098280" y="482803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Age distribution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= 16.1% of employees  •  Age has a strong positive correlation with Total Working Years  •  Lower income is associated with higher attrition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— Machine Learning Prediction System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Collaboration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109960" cy="914400"/>
          </a:xfrm>
          <a:prstGeom prst="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60320" y="16002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GitHub Repository Link Here 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rgbClr val="3F8C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8" name="Text 6"/>
          <p:cNvSpPr/>
          <p:nvPr/>
        </p:nvSpPr>
        <p:spPr>
          <a:xfrm>
            <a:off x="1097280" y="27706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Repository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7280" y="312724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GitHub repository was created for the full project.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384048" cy="384048"/>
          </a:xfrm>
          <a:prstGeom prst="ellipse">
            <a:avLst/>
          </a:prstGeom>
          <a:solidFill>
            <a:srgbClr val="3F8CFF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12" name="Text 10"/>
          <p:cNvSpPr/>
          <p:nvPr/>
        </p:nvSpPr>
        <p:spPr>
          <a:xfrm>
            <a:off x="6766560" y="277063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from Both Members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66560" y="312724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Dimple Sharma and Vaibhav Magar each contributed via Git commits.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3F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16" name="Text 14"/>
          <p:cNvSpPr/>
          <p:nvPr/>
        </p:nvSpPr>
        <p:spPr>
          <a:xfrm>
            <a:off x="1097280" y="40965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Divided Tasks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445312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EDA vs. model building &amp; evaluation, split evenly.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4160520"/>
            <a:ext cx="384048" cy="384048"/>
          </a:xfrm>
          <a:prstGeom prst="ellipse">
            <a:avLst/>
          </a:prstGeom>
          <a:solidFill>
            <a:srgbClr val="3F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4160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20" name="Text 18"/>
          <p:cNvSpPr/>
          <p:nvPr/>
        </p:nvSpPr>
        <p:spPr>
          <a:xfrm>
            <a:off x="6766560" y="409651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&amp; Merged Together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766560" y="445312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was reviewed and merged collaboratively before finalizing.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384048" cy="384048"/>
          </a:xfrm>
          <a:prstGeom prst="ellipse">
            <a:avLst/>
          </a:prstGeom>
          <a:solidFill>
            <a:srgbClr val="3F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486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24" name="Text 22"/>
          <p:cNvSpPr/>
          <p:nvPr/>
        </p:nvSpPr>
        <p:spPr>
          <a:xfrm>
            <a:off x="1097280" y="54223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Maintained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97280" y="577900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README.md documents the setup, dataset, and workflow.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17920" y="5486400"/>
            <a:ext cx="384048" cy="384048"/>
          </a:xfrm>
          <a:prstGeom prst="ellipse">
            <a:avLst/>
          </a:prstGeom>
          <a:solidFill>
            <a:srgbClr val="3F8CFF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5486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24" dirty="0"/>
          </a:p>
        </p:txBody>
      </p:sp>
      <p:sp>
        <p:nvSpPr>
          <p:cNvPr id="28" name="Text 26"/>
          <p:cNvSpPr/>
          <p:nvPr/>
        </p:nvSpPr>
        <p:spPr>
          <a:xfrm>
            <a:off x="6766560" y="54223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Check-ins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766560" y="577900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discussions were held to track progress and resolve issues.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— Machine Learning Prediction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4206240"/>
          </a:xfrm>
          <a:prstGeom prst="rect">
            <a:avLst>
              <a:gd name="adj" fmla="val 217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class imbalance in the attrition target variable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preprocessing for mixed categorical &amp; numerical HR data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five classifiers fairly on the same train-test split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evaluation metrics beyond raw accuracy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GitHub merges between two contributors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94960" cy="4206240"/>
          </a:xfrm>
          <a:prstGeom prst="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14884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workflow: collection → preprocessing → modeling → evaluation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 of Label Encoding and Standard Scaling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techniques using Matplotlib and Seaborn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between accuracy, precision, recall &amp; F1 on imbalanced data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6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development using Git and GitHub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Attrition Prediction — Machine Learning Prediction System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273877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572000"/>
            <a:ext cx="3840480" cy="3840480"/>
          </a:xfrm>
          <a:prstGeom prst="ellipse">
            <a:avLst/>
          </a:prstGeom>
          <a:solidFill>
            <a:srgbClr val="27387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6675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built a complete Employee Attrition Prediction System, from raw HR data to a compared, evaluated set of five ML models.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D7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Support Vector Machine (SVM) achieved the best accuracy at 88.44%, showing how ML can help organizations spot at-risk employees and act early on retention.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address class imbalance (e.g. SMOTE), tune hyperparameters, and explore advanced ensembles to improve recall on the minority attrition class.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63840" y="1600200"/>
            <a:ext cx="3749040" cy="4023360"/>
          </a:xfrm>
          <a:prstGeom prst="rect">
            <a:avLst>
              <a:gd name="adj" fmla="val 2927"/>
            </a:avLst>
          </a:prstGeom>
          <a:solidFill>
            <a:srgbClr val="16204F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21031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C9F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88.44%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863840" y="2971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(SVM)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3520440"/>
            <a:ext cx="3017520" cy="0"/>
          </a:xfrm>
          <a:prstGeom prst="line">
            <a:avLst/>
          </a:prstGeom>
          <a:noFill/>
          <a:ln w="12700">
            <a:solidFill>
              <a:srgbClr val="3A4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37033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863840" y="4297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 &amp; compared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4846320"/>
            <a:ext cx="3017520" cy="0"/>
          </a:xfrm>
          <a:prstGeom prst="line">
            <a:avLst/>
          </a:prstGeom>
          <a:noFill/>
          <a:ln w="12700">
            <a:solidFill>
              <a:srgbClr val="3A4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50292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863840" y="55321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E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 analyzed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6263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Dimple Sharma  &amp;  Vaibhav Magar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2026-08-01T17:15:42Z</dcterms:created>
  <dcterms:modified xsi:type="dcterms:W3CDTF">2026-08-01T17:15:42Z</dcterms:modified>
</cp:coreProperties>
</file>